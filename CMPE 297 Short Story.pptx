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FFF4A-E6A0-C8A9-5F7E-D410B8AC12BA}" v="314" dt="2025-12-05T06:01:38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3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31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511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3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54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5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2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58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4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E268-8133-FADB-2D49-3CEBEBECD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ea typeface="+mj-lt"/>
                <a:cs typeface="+mj-lt"/>
              </a:rPr>
              <a:t>Leveraging Self-Attention for Input-Dependent Soft Prompting in LLMs (ID-SPAM)</a:t>
            </a:r>
            <a:endParaRPr lang="en-US" sz="36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729BA98-B844-6A23-5E3F-E0C5021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023" y="3991544"/>
            <a:ext cx="11674305" cy="2366161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Paper</a:t>
            </a:r>
            <a:r>
              <a:rPr lang="en-US" sz="2000" dirty="0">
                <a:ea typeface="+mn-lt"/>
                <a:cs typeface="+mn-lt"/>
              </a:rPr>
              <a:t>: Muppidi, Nandy, Bandyopadhyay, ACL 2025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Focus</a:t>
            </a:r>
            <a:r>
              <a:rPr lang="en-US" sz="2000" dirty="0">
                <a:ea typeface="+mn-lt"/>
                <a:cs typeface="+mn-lt"/>
              </a:rPr>
              <a:t>: Input-dependent soft prompts for parameter-efficient fine-tuning</a:t>
            </a:r>
            <a:endParaRPr lang="en-US" sz="2000" dirty="0"/>
          </a:p>
          <a:p>
            <a:pPr lvl="8"/>
            <a:endParaRPr lang="en-US" sz="2000" cap="all" spc="300" dirty="0">
              <a:ea typeface="+mn-lt"/>
              <a:cs typeface="+mn-lt"/>
            </a:endParaRPr>
          </a:p>
          <a:p>
            <a:pPr lvl="8"/>
            <a:endParaRPr lang="en-US" sz="2000" cap="all" spc="300" dirty="0">
              <a:ea typeface="+mn-lt"/>
              <a:cs typeface="+mn-lt"/>
            </a:endParaRPr>
          </a:p>
          <a:p>
            <a:pPr marL="4000500" lvl="8" indent="-342900" algn="r">
              <a:buChar char="•"/>
            </a:pPr>
            <a:r>
              <a:rPr lang="en-US" sz="2000" b="1" cap="all" spc="300" dirty="0">
                <a:ea typeface="+mn-lt"/>
                <a:cs typeface="+mn-lt"/>
              </a:rPr>
              <a:t>Presenter</a:t>
            </a:r>
            <a:r>
              <a:rPr lang="en-US" sz="2000" cap="all" spc="300" dirty="0">
                <a:ea typeface="+mn-lt"/>
                <a:cs typeface="+mn-lt"/>
              </a:rPr>
              <a:t>: Jayanth </a:t>
            </a:r>
            <a:r>
              <a:rPr lang="en-US" sz="2000" cap="all" spc="300" err="1">
                <a:ea typeface="+mn-lt"/>
                <a:cs typeface="+mn-lt"/>
              </a:rPr>
              <a:t>kalyanam</a:t>
            </a:r>
            <a:endParaRPr lang="en-US" sz="2000" cap="all" spc="30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9AC3E-E124-B43C-C1DA-D5D28894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8225-806A-44FA-A168-2B0901C90840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00D39-54CA-4BF8-92A1-8925F4CB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1DABD-B3B2-D68E-54A6-9704BA0E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8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BB6A-34BF-7928-2044-38B3C616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Why Not Just Fine-Tune the Whole LLM?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DDA2-B2EF-482C-2D1C-5495DEFF1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Full fine-tuning = update </a:t>
            </a:r>
            <a:r>
              <a:rPr lang="en-US" sz="2400" i="1" dirty="0">
                <a:ea typeface="+mn-lt"/>
                <a:cs typeface="+mn-lt"/>
              </a:rPr>
              <a:t>all</a:t>
            </a:r>
            <a:r>
              <a:rPr lang="en-US" sz="2400" dirty="0">
                <a:ea typeface="+mn-lt"/>
                <a:cs typeface="+mn-lt"/>
              </a:rPr>
              <a:t> model weights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Expensive in compute, memory, and engineering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Hard to maintain many fine-tuned copies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Need cheaper ways to adapt LLMs to new tasks → </a:t>
            </a:r>
            <a:r>
              <a:rPr lang="en-US" sz="2400" b="1" dirty="0">
                <a:ea typeface="+mn-lt"/>
                <a:cs typeface="+mn-lt"/>
              </a:rPr>
              <a:t>PEFT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7881B-FCED-200F-6FD5-6A2C6A6B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521F-876C-420B-8562-0BF5C3F145C3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C36C2-E6B8-2B53-A339-004EA1B2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EBD44-C14A-ABA4-12F4-3B00AA31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12D4-C661-3361-4385-04A76213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Soft Prompts: Trainable Virtual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037C-78D8-3135-997D-20B647298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Add </a:t>
            </a:r>
            <a:r>
              <a:rPr lang="en-US" sz="2400" b="1" dirty="0">
                <a:ea typeface="+mn-lt"/>
                <a:cs typeface="+mn-lt"/>
              </a:rPr>
              <a:t>trainable vectors</a:t>
            </a:r>
            <a:r>
              <a:rPr lang="en-US" sz="2400" dirty="0">
                <a:ea typeface="+mn-lt"/>
                <a:cs typeface="+mn-lt"/>
              </a:rPr>
              <a:t> before input tokens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Base LLM (e.g., </a:t>
            </a:r>
            <a:r>
              <a:rPr lang="en-US" sz="2400" dirty="0" err="1">
                <a:ea typeface="+mn-lt"/>
                <a:cs typeface="+mn-lt"/>
              </a:rPr>
              <a:t>RoBERTa</a:t>
            </a:r>
            <a:r>
              <a:rPr lang="en-US" sz="2400" dirty="0">
                <a:ea typeface="+mn-lt"/>
                <a:cs typeface="+mn-lt"/>
              </a:rPr>
              <a:t>) stays </a:t>
            </a:r>
            <a:r>
              <a:rPr lang="en-US" sz="2400" b="1" dirty="0">
                <a:ea typeface="+mn-lt"/>
                <a:cs typeface="+mn-lt"/>
              </a:rPr>
              <a:t>frozen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Only soft prompt parameters are learned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Popular PEFT family: Prompt Tuning, P-Tuning, </a:t>
            </a:r>
            <a:r>
              <a:rPr lang="en-US" sz="2400" dirty="0" err="1">
                <a:ea typeface="+mn-lt"/>
                <a:cs typeface="+mn-lt"/>
              </a:rPr>
              <a:t>SMoP</a:t>
            </a:r>
            <a:r>
              <a:rPr lang="en-US" sz="2400" dirty="0">
                <a:ea typeface="+mn-lt"/>
                <a:cs typeface="+mn-lt"/>
              </a:rPr>
              <a:t>, LPT, DEPT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9C83B-A7E6-9D3B-BE00-1EF8D52C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C79C-28DA-4BEB-89A6-11805F02F0A9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BCE4B-4C9F-08B8-FEA6-05ECFD6C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72940-0C2E-211A-5ED6-FD26A0C9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9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A6E4-D988-899F-9CB2-0C8DE2F9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The Problem: One Prompt for Every Input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3D5B-23A5-3483-F273-50B6C7379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Typical soft prompt: </a:t>
            </a:r>
            <a:r>
              <a:rPr lang="en-US" sz="2400" b="1" dirty="0">
                <a:ea typeface="+mn-lt"/>
                <a:cs typeface="+mn-lt"/>
              </a:rPr>
              <a:t>one fixed prompt per task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Same prompt used for all examples (e.g., all SST-2 sentences)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Captures task-level info, not input-specific nuance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Limited flexibility for negation, sarcasm, domain shift, etc.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075B8-F5FF-1373-6AD7-EA91955E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82B1-7B96-4B74-B07A-699D72626A0C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93B26-B864-A6C3-CE5B-5264C184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5DB7E-3B15-383B-9A2D-6EB4D99E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782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E36D-3607-B8C0-D30F-0F85A535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ID-SPAM in One Slide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2DD28-B0DE-7C51-1AD6-F596A2F8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Input-dependent</a:t>
            </a:r>
            <a:r>
              <a:rPr lang="en-US" sz="2400" dirty="0">
                <a:ea typeface="+mn-lt"/>
                <a:cs typeface="+mn-lt"/>
              </a:rPr>
              <a:t> soft prompt, not static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Use </a:t>
            </a:r>
            <a:r>
              <a:rPr lang="en-US" sz="2400" b="1" dirty="0">
                <a:ea typeface="+mn-lt"/>
                <a:cs typeface="+mn-lt"/>
              </a:rPr>
              <a:t>self-attention</a:t>
            </a:r>
            <a:r>
              <a:rPr lang="en-US" sz="2400" dirty="0">
                <a:ea typeface="+mn-lt"/>
                <a:cs typeface="+mn-lt"/>
              </a:rPr>
              <a:t> over input tokens to compute a summary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Pass summary through a </a:t>
            </a:r>
            <a:r>
              <a:rPr lang="en-US" sz="2400" b="1" dirty="0">
                <a:ea typeface="+mn-lt"/>
                <a:cs typeface="+mn-lt"/>
              </a:rPr>
              <a:t>small bottleneck MLP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Output = soft prompt tokens for this example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Prepend at a </a:t>
            </a:r>
            <a:r>
              <a:rPr lang="en-US" sz="2400" b="1" dirty="0">
                <a:ea typeface="+mn-lt"/>
                <a:cs typeface="+mn-lt"/>
              </a:rPr>
              <a:t>chosen transformer layer</a:t>
            </a:r>
            <a:r>
              <a:rPr lang="en-US" sz="2400" dirty="0">
                <a:ea typeface="+mn-lt"/>
                <a:cs typeface="+mn-lt"/>
              </a:rPr>
              <a:t> of the frozen LLM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E8ACD-6535-1662-7A92-5A0E25D1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AD62-0652-4DEE-B88E-D043398E88A0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1233-31E1-9DE3-0858-9A58BAB6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94A3-B9D7-9998-5609-16BCC714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7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607F-0805-2ADB-1513-BA8FDD25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ID-SPAM Architecture</a:t>
            </a:r>
            <a:endParaRPr lang="en-US" sz="3600"/>
          </a:p>
        </p:txBody>
      </p:sp>
      <p:pic>
        <p:nvPicPr>
          <p:cNvPr id="7" name="Content Placeholder 6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DD481C98-AD5E-D39B-60BD-42961EF9A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7832" y="2157984"/>
            <a:ext cx="6523221" cy="39038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44357-2891-564B-25E6-4FFE2378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007B-6720-4A50-B949-1A303A95F17D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3397-B234-9169-1310-F9FCF61A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7BB6-7DA7-5652-23D7-733519C6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3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3BEE-03FD-E9D7-B372-CB3883F1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Experimental Setup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9A0C-BE03-0BC9-C775-C266D952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Backbones: </a:t>
            </a:r>
            <a:r>
              <a:rPr lang="en-US" sz="2400" b="1" err="1">
                <a:ea typeface="+mn-lt"/>
                <a:cs typeface="+mn-lt"/>
              </a:rPr>
              <a:t>RoBERTa</a:t>
            </a:r>
            <a:r>
              <a:rPr lang="en-US" sz="2400" b="1" dirty="0">
                <a:ea typeface="+mn-lt"/>
                <a:cs typeface="+mn-lt"/>
              </a:rPr>
              <a:t>-BASE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b="1" err="1">
                <a:ea typeface="+mn-lt"/>
                <a:cs typeface="+mn-lt"/>
              </a:rPr>
              <a:t>RoBERTa</a:t>
            </a:r>
            <a:r>
              <a:rPr lang="en-US" sz="2400" b="1" dirty="0">
                <a:ea typeface="+mn-lt"/>
                <a:cs typeface="+mn-lt"/>
              </a:rPr>
              <a:t>-LARGE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Tasks: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GLUE</a:t>
            </a:r>
            <a:r>
              <a:rPr lang="en-US" sz="2000" dirty="0">
                <a:ea typeface="+mn-lt"/>
                <a:cs typeface="+mn-lt"/>
              </a:rPr>
              <a:t>: SST-2, MNLI, QNLI, RTE, MRPC, QQP</a:t>
            </a:r>
            <a:endParaRPr lang="en-US" sz="2200" dirty="0">
              <a:ea typeface="+mn-lt"/>
              <a:cs typeface="+mn-lt"/>
            </a:endParaRPr>
          </a:p>
          <a:p>
            <a:pPr lvl="1"/>
            <a:r>
              <a:rPr lang="en-US" sz="2200" b="1" dirty="0" err="1">
                <a:ea typeface="+mn-lt"/>
                <a:cs typeface="+mn-lt"/>
              </a:rPr>
              <a:t>SuperGLUE</a:t>
            </a:r>
            <a:r>
              <a:rPr lang="en-US" sz="2200" dirty="0">
                <a:ea typeface="+mn-lt"/>
                <a:cs typeface="+mn-lt"/>
              </a:rPr>
              <a:t>: CB, COPA, </a:t>
            </a:r>
            <a:r>
              <a:rPr lang="en-US" sz="2200" dirty="0" err="1">
                <a:ea typeface="+mn-lt"/>
                <a:cs typeface="+mn-lt"/>
              </a:rPr>
              <a:t>MultiRC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BoolQ</a:t>
            </a:r>
            <a:endParaRPr lang="en-US" sz="2200" dirty="0"/>
          </a:p>
          <a:p>
            <a:r>
              <a:rPr lang="en-US" sz="2400" dirty="0">
                <a:ea typeface="+mn-lt"/>
                <a:cs typeface="+mn-lt"/>
              </a:rPr>
              <a:t>Baselines:</a:t>
            </a:r>
            <a:endParaRPr lang="en-US" sz="2400"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ea typeface="+mn-lt"/>
                <a:cs typeface="+mn-lt"/>
              </a:rPr>
              <a:t>Full fine-tuning, </a:t>
            </a:r>
            <a:r>
              <a:rPr lang="en-US" sz="2200" err="1">
                <a:ea typeface="+mn-lt"/>
                <a:cs typeface="+mn-lt"/>
              </a:rPr>
              <a:t>LoRA</a:t>
            </a:r>
            <a:endParaRPr lang="en-US" sz="2200"/>
          </a:p>
          <a:p>
            <a:pPr lvl="1"/>
            <a:r>
              <a:rPr lang="en-US" sz="2200" dirty="0">
                <a:ea typeface="+mn-lt"/>
                <a:cs typeface="+mn-lt"/>
              </a:rPr>
              <a:t>Prompt Tuning, P-Tuning, </a:t>
            </a:r>
            <a:r>
              <a:rPr lang="en-US" sz="2200" err="1">
                <a:ea typeface="+mn-lt"/>
                <a:cs typeface="+mn-lt"/>
              </a:rPr>
              <a:t>SMoP</a:t>
            </a:r>
            <a:r>
              <a:rPr lang="en-US" sz="2200" dirty="0">
                <a:ea typeface="+mn-lt"/>
                <a:cs typeface="+mn-lt"/>
              </a:rPr>
              <a:t>, LPT, DEPT</a:t>
            </a:r>
            <a:endParaRPr lang="en-US" sz="2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9A57D-50A5-74C0-BF79-48E180B6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3BCEA-27B4-490F-B566-6C491CAFBE1E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840C4-06C6-5EED-C4B7-82A481C33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62FAF-3539-A9B1-DBD7-A3730DE2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10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2692-1796-15B7-5332-193AAFCD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lt"/>
                <a:cs typeface="+mj-lt"/>
              </a:rPr>
              <a:t>Results: ID-SPAM vs Other Methods</a:t>
            </a:r>
            <a:endParaRPr lang="en-US" sz="3600" dirty="0"/>
          </a:p>
          <a:p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DE96F-A721-AFE0-949E-F0E38831B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On </a:t>
            </a:r>
            <a:r>
              <a:rPr lang="en-US" sz="2400" b="1" dirty="0">
                <a:ea typeface="+mn-lt"/>
                <a:cs typeface="+mn-lt"/>
              </a:rPr>
              <a:t>GLUE</a:t>
            </a:r>
            <a:r>
              <a:rPr lang="en-US" sz="2400" dirty="0">
                <a:ea typeface="+mn-lt"/>
                <a:cs typeface="+mn-lt"/>
              </a:rPr>
              <a:t>, ID-SPAM achieves the </a:t>
            </a:r>
            <a:r>
              <a:rPr lang="en-US" sz="2400" b="1" dirty="0">
                <a:ea typeface="+mn-lt"/>
                <a:cs typeface="+mn-lt"/>
              </a:rPr>
              <a:t>best average score among soft-prompt methods</a:t>
            </a:r>
            <a:r>
              <a:rPr lang="en-US" sz="2400" dirty="0">
                <a:ea typeface="+mn-lt"/>
                <a:cs typeface="+mn-lt"/>
              </a:rPr>
              <a:t> for both backbones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With </a:t>
            </a:r>
            <a:r>
              <a:rPr lang="en-US" sz="2400" err="1">
                <a:ea typeface="+mn-lt"/>
                <a:cs typeface="+mn-lt"/>
              </a:rPr>
              <a:t>RoBERTa</a:t>
            </a:r>
            <a:r>
              <a:rPr lang="en-US" sz="2400" dirty="0">
                <a:ea typeface="+mn-lt"/>
                <a:cs typeface="+mn-lt"/>
              </a:rPr>
              <a:t>-LARGE, mean GLUE score ≈ </a:t>
            </a:r>
            <a:r>
              <a:rPr lang="en-US" sz="2400" b="1" dirty="0">
                <a:ea typeface="+mn-lt"/>
                <a:cs typeface="+mn-lt"/>
              </a:rPr>
              <a:t>88+</a:t>
            </a:r>
            <a:r>
              <a:rPr lang="en-US" sz="2400" dirty="0">
                <a:ea typeface="+mn-lt"/>
                <a:cs typeface="+mn-lt"/>
              </a:rPr>
              <a:t>, closing much of the gap to full fine-tuning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On </a:t>
            </a:r>
            <a:r>
              <a:rPr lang="en-US" sz="2400" b="1" dirty="0" err="1">
                <a:ea typeface="+mn-lt"/>
                <a:cs typeface="+mn-lt"/>
              </a:rPr>
              <a:t>SuperGLUE</a:t>
            </a:r>
            <a:r>
              <a:rPr lang="en-US" sz="2400" dirty="0">
                <a:ea typeface="+mn-lt"/>
                <a:cs typeface="+mn-lt"/>
              </a:rPr>
              <a:t>, ID-SPAM again obtains the </a:t>
            </a:r>
            <a:r>
              <a:rPr lang="en-US" sz="2400" b="1" dirty="0">
                <a:ea typeface="+mn-lt"/>
                <a:cs typeface="+mn-lt"/>
              </a:rPr>
              <a:t>highest average score</a:t>
            </a:r>
            <a:r>
              <a:rPr lang="en-US" sz="2400" dirty="0">
                <a:ea typeface="+mn-lt"/>
                <a:cs typeface="+mn-lt"/>
              </a:rPr>
              <a:t> over 4 tasks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B3DCE-0826-DDE8-CB12-03574D27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5005-21A3-4CAF-A938-0AAE5AE2E097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C3A08-E402-E6EA-B9BD-BD37EF5A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41D17-2512-F227-E9F4-4D2677B9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0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BFC0-EC85-0E01-5E29-9833EB29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Zero-Shot Transfer &amp; Ablation Studies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11442-7166-F335-136D-78B3EBC01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Zero-shot transfer: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Train on QQP → test on MRPC, and vice versa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Train on SST-2 → test on IMDB, and vice versa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ID-SPAM often </a:t>
            </a:r>
            <a:r>
              <a:rPr lang="en-US" sz="2200" b="1" dirty="0">
                <a:ea typeface="+mn-lt"/>
                <a:cs typeface="+mn-lt"/>
              </a:rPr>
              <a:t>matches or beats full fine-tuning</a:t>
            </a:r>
            <a:r>
              <a:rPr lang="en-US" sz="2200" dirty="0">
                <a:ea typeface="+mn-lt"/>
                <a:cs typeface="+mn-lt"/>
              </a:rPr>
              <a:t> in these transfers</a:t>
            </a:r>
            <a:endParaRPr lang="en-US" sz="2200"/>
          </a:p>
          <a:p>
            <a:r>
              <a:rPr lang="en-US" sz="2400" b="1" dirty="0">
                <a:ea typeface="+mn-lt"/>
                <a:cs typeface="+mn-lt"/>
              </a:rPr>
              <a:t>Ablation: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Replace self-attention with simple mean-pooling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Average drop ≈ </a:t>
            </a:r>
            <a:r>
              <a:rPr lang="en-US" sz="2200" b="1" dirty="0">
                <a:ea typeface="+mn-lt"/>
                <a:cs typeface="+mn-lt"/>
              </a:rPr>
              <a:t>5–6 points</a:t>
            </a:r>
            <a:r>
              <a:rPr lang="en-US" sz="2200" dirty="0">
                <a:ea typeface="+mn-lt"/>
                <a:cs typeface="+mn-lt"/>
              </a:rPr>
              <a:t> on RTE/MRPC/QQP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Shows self-attention is crucial</a:t>
            </a:r>
            <a:endParaRPr lang="en-US" sz="220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2C588-8AD7-9344-5C31-6899B6B0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2509-EB2A-4B3E-8916-DA14FE71CE6E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14D9B-4815-78BA-6A88-C63EF563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D005D-99A5-27D6-29DC-3880A786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007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EEB-14BE-9078-90E1-DFA0A6C6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Limitations &amp; Future Directions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BA8A-974F-F064-7DEA-4D8A4C3DB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Evaluated mainly on </a:t>
            </a:r>
            <a:r>
              <a:rPr lang="en-US" sz="2400" b="1" dirty="0" err="1">
                <a:ea typeface="+mn-lt"/>
                <a:cs typeface="+mn-lt"/>
              </a:rPr>
              <a:t>RoBERTa</a:t>
            </a:r>
            <a:r>
              <a:rPr lang="en-US" sz="2400" b="1" dirty="0">
                <a:ea typeface="+mn-lt"/>
                <a:cs typeface="+mn-lt"/>
              </a:rPr>
              <a:t>-BASE/LARGE</a:t>
            </a:r>
            <a:r>
              <a:rPr lang="en-US" sz="2400" dirty="0">
                <a:ea typeface="+mn-lt"/>
                <a:cs typeface="+mn-lt"/>
              </a:rPr>
              <a:t>, smaller than current LLMs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Layer choice</a:t>
            </a:r>
            <a:r>
              <a:rPr lang="en-US" sz="2400" dirty="0">
                <a:ea typeface="+mn-lt"/>
                <a:cs typeface="+mn-lt"/>
              </a:rPr>
              <a:t> (where to insert the prompt) is manually tuned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Focused on </a:t>
            </a:r>
            <a:r>
              <a:rPr lang="en-US" sz="2400" b="1" dirty="0">
                <a:ea typeface="+mn-lt"/>
                <a:cs typeface="+mn-lt"/>
              </a:rPr>
              <a:t>classification / NLU tasks</a:t>
            </a:r>
            <a:r>
              <a:rPr lang="en-US" sz="2400" dirty="0">
                <a:ea typeface="+mn-lt"/>
                <a:cs typeface="+mn-lt"/>
              </a:rPr>
              <a:t>, not long-form generation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Future: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Apply to </a:t>
            </a:r>
            <a:r>
              <a:rPr lang="en-US" sz="2200" b="1" dirty="0">
                <a:ea typeface="+mn-lt"/>
                <a:cs typeface="+mn-lt"/>
              </a:rPr>
              <a:t>larger LLMs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Learn insertion layer automatically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+mn-lt"/>
                <a:cs typeface="+mn-lt"/>
              </a:rPr>
              <a:t>Explore </a:t>
            </a:r>
            <a:r>
              <a:rPr lang="en-US" sz="2200" b="1" dirty="0">
                <a:ea typeface="+mn-lt"/>
                <a:cs typeface="+mn-lt"/>
              </a:rPr>
              <a:t>multimodal or generative</a:t>
            </a:r>
            <a:r>
              <a:rPr lang="en-US" sz="2200" dirty="0">
                <a:ea typeface="+mn-lt"/>
                <a:cs typeface="+mn-lt"/>
              </a:rPr>
              <a:t> tasks</a:t>
            </a:r>
            <a:endParaRPr lang="en-US" sz="2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2729-37D6-408D-D36A-FA7A4F28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54237-BE6C-46DD-A9B8-7C1A73B7FE70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60388-67FD-E316-628A-21721560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62612-8AD2-547C-4F7F-A93813B5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2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8A97-B591-7ECB-7C70-4DA50315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A64B5-AF6C-46BC-B949-BE3CAE35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ID-SPAM = </a:t>
            </a:r>
            <a:r>
              <a:rPr lang="en-US" sz="2400" b="1" dirty="0">
                <a:ea typeface="+mn-lt"/>
                <a:cs typeface="+mn-lt"/>
              </a:rPr>
              <a:t>input-dependent soft prompts via self-attention + MLP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Keeps backbone frozen; trains a </a:t>
            </a:r>
            <a:r>
              <a:rPr lang="en-US" sz="2400" b="1" dirty="0">
                <a:ea typeface="+mn-lt"/>
                <a:cs typeface="+mn-lt"/>
              </a:rPr>
              <a:t>small number of parameters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Strong results on GLUE &amp; </a:t>
            </a:r>
            <a:r>
              <a:rPr lang="en-US" sz="2400" err="1">
                <a:ea typeface="+mn-lt"/>
                <a:cs typeface="+mn-lt"/>
              </a:rPr>
              <a:t>SuperGLUE</a:t>
            </a:r>
            <a:r>
              <a:rPr lang="en-US" sz="2400" dirty="0">
                <a:ea typeface="+mn-lt"/>
                <a:cs typeface="+mn-lt"/>
              </a:rPr>
              <a:t> vs prior soft-prompt methods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Good </a:t>
            </a:r>
            <a:r>
              <a:rPr lang="en-US" sz="2400" b="1" dirty="0">
                <a:ea typeface="+mn-lt"/>
                <a:cs typeface="+mn-lt"/>
              </a:rPr>
              <a:t>zero-shot transfer</a:t>
            </a:r>
            <a:r>
              <a:rPr lang="en-US" sz="2400" dirty="0">
                <a:ea typeface="+mn-lt"/>
                <a:cs typeface="+mn-lt"/>
              </a:rPr>
              <a:t>; often competitive with or better than full fine-tuning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Simple, practical idea to add to the </a:t>
            </a:r>
            <a:r>
              <a:rPr lang="en-US" sz="2400" b="1" dirty="0">
                <a:ea typeface="+mn-lt"/>
                <a:cs typeface="+mn-lt"/>
              </a:rPr>
              <a:t>PEFT toolbox</a:t>
            </a: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257C4-E7C1-F7D9-3D47-F97BE471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F9258-B5CA-4553-9CCD-AF0A0CAD720C}" type="datetime1"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44E2-5E30-2C96-AEC3-0F27332D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77D47-52DC-4D5F-0147-269550D9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24289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BohoVogueVTI</vt:lpstr>
      <vt:lpstr>Leveraging Self-Attention for Input-Dependent Soft Prompting in LLMs (ID-SPAM)</vt:lpstr>
      <vt:lpstr>Why Not Just Fine-Tune the Whole LLM?</vt:lpstr>
      <vt:lpstr>Soft Prompts: Trainable Virtual Tokens</vt:lpstr>
      <vt:lpstr>The Problem: One Prompt for Every Input</vt:lpstr>
      <vt:lpstr>ID-SPAM in One Slide</vt:lpstr>
      <vt:lpstr>ID-SPAM Architecture</vt:lpstr>
      <vt:lpstr>Experimental Setup</vt:lpstr>
      <vt:lpstr>Results: ID-SPAM vs Other Methods </vt:lpstr>
      <vt:lpstr>Zero-Shot Transfer &amp; Ablation Studies</vt:lpstr>
      <vt:lpstr>Limitations &amp; Future Directions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150</cp:revision>
  <dcterms:created xsi:type="dcterms:W3CDTF">2025-12-04T23:42:15Z</dcterms:created>
  <dcterms:modified xsi:type="dcterms:W3CDTF">2025-12-05T06:50:06Z</dcterms:modified>
</cp:coreProperties>
</file>